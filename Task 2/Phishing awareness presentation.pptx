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F5F5F5"/>
                </a:solidFill>
              </a:rPr>
              <a:t>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PHISHING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94B3A"/>
                </a:solidFill>
              </a:rPr>
              <a:t>AWARENESS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291840"/>
            <a:ext cx="7132320" cy="4572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AAAAAA"/>
                </a:solidFill>
              </a:rPr>
              <a:t>Recognize · Resist ·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Cybersecurity Education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IS PHISHING?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5F5F5"/>
                </a:solidFill>
              </a:rPr>
              <a:t>Phishing is a cyber attack where criminals impersonate trusted organisations via email, SMS, or fake websites to trick victims into revealing passwords, financial details, or installing malware.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3657600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7889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3.4B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11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phishing emails sent every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651760"/>
            <a:ext cx="3657600" cy="1828800"/>
          </a:xfrm>
          <a:prstGeom prst="rect">
            <a:avLst/>
          </a:prstGeom>
          <a:solidFill>
            <a:srgbClr val="E9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27889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36%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3611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of data breaches involve phishing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66175" y="2651760"/>
            <a:ext cx="3657600" cy="1828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27889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$17M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3611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lost per minute to cybercrime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AA"/>
                </a:solidFill>
              </a:rPr>
              <a:t>Why it matters: Phishing is the #1 entry point for corporate data breaches worldwide.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TYPES OF PHISHING ATTACKS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6576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5F5F5"/>
                </a:solidFill>
              </a:rPr>
              <a:t>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B3A"/>
                </a:solidFill>
              </a:rPr>
              <a:t>Email Phishing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Mass emails mimicking banks, PayPal, or IT departments asking you to 'verify' your account.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6576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5F5F5"/>
                </a:solidFill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B3A"/>
                </a:solidFill>
              </a:rPr>
              <a:t>Spear Phishing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830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Targeted attacks using your name, job title, or company to appear legitimate and personal.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88720"/>
            <a:ext cx="36576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5F5F5"/>
                </a:solidFill>
              </a:rPr>
              <a:t>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B3A"/>
                </a:solidFill>
              </a:rPr>
              <a:t>Whaling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7830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Attacks aimed at executives (CEO, CFO). High reward for attackers — authorise wire transfers.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36576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5F5F5"/>
                </a:solidFill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B3A"/>
                </a:solidFill>
              </a:rPr>
              <a:t>Smishing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776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Phishing via SMS — fake delivery alerts, bank warnings, or prize notifications via text.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383280"/>
            <a:ext cx="36576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5F5F5"/>
                </a:solidFill>
              </a:rPr>
              <a:t>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B3A"/>
                </a:solidFill>
              </a:rPr>
              <a:t>Vishing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9776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Voice phishing — criminals call pretending to be tech support, banks, or government agencies.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383280"/>
            <a:ext cx="36576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5F5F5"/>
                </a:solidFill>
              </a:rP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B3A"/>
                </a:solidFill>
              </a:rPr>
              <a:t>Clone Phishing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9776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Exact copy of a real email with links replaced by malicious ones. Very hard to detect.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TO RECOGNISE A PHISHING EMAIL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621792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AAAA"/>
                </a:solidFill>
              </a:rPr>
              <a:t>📨  SUSPICIOUS EMAIL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6217920" cy="4572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</a:rPr>
              <a:t>From: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91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94B3A"/>
                </a:solidFill>
              </a:rPr>
              <a:t>security@paypa1-alerts.com  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568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</a:rPr>
              <a:t>To: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568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you@yourcompany.com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219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</a:rPr>
              <a:t>Subject: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219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URGENT: Your account has been suspended!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87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52344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Dear Valued Customer,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1752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We have detected unusual activity on your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82696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Click below IMMEDIATELY to verify: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4787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</a:rPr>
              <a:t>http://paypa1-secure-login.xyz/verify  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130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Failure to act within 24 hours will result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78224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permanent account closure.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4340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08576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PayPal Security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🚩  RED FLAGS TO SPOT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6916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"/>
              </a:spcAft>
            </a:pPr>
            <a:r>
              <a:rPr sz="1300" b="1">
                <a:solidFill>
                  <a:srgbClr val="C0392B"/>
                </a:solidFill>
              </a:rPr>
              <a:t>▶  </a:t>
            </a:r>
            <a:r>
              <a:rPr sz="1300">
                <a:solidFill>
                  <a:srgbClr val="F5F5F5"/>
                </a:solidFill>
              </a:rPr>
              <a:t>Sender domain misspelled  (paypa1 not paypal)</a:t>
            </a:r>
          </a:p>
          <a:p>
            <a:pPr>
              <a:spcAft>
                <a:spcPts val="160"/>
              </a:spcAft>
            </a:pPr>
            <a:r>
              <a:rPr sz="1300" b="1">
                <a:solidFill>
                  <a:srgbClr val="C0392B"/>
                </a:solidFill>
              </a:rPr>
              <a:t>▶  </a:t>
            </a:r>
            <a:r>
              <a:rPr sz="1300">
                <a:solidFill>
                  <a:srgbClr val="F5F5F5"/>
                </a:solidFill>
              </a:rPr>
              <a:t>Urgent / threatening language</a:t>
            </a:r>
          </a:p>
          <a:p>
            <a:pPr>
              <a:spcAft>
                <a:spcPts val="160"/>
              </a:spcAft>
            </a:pPr>
            <a:r>
              <a:rPr sz="1300" b="1">
                <a:solidFill>
                  <a:srgbClr val="C0392B"/>
                </a:solidFill>
              </a:rPr>
              <a:t>▶  </a:t>
            </a:r>
            <a:r>
              <a:rPr sz="1300">
                <a:solidFill>
                  <a:srgbClr val="F5F5F5"/>
                </a:solidFill>
              </a:rPr>
              <a:t>Suspicious link — hover before clicking</a:t>
            </a:r>
          </a:p>
          <a:p>
            <a:pPr>
              <a:spcAft>
                <a:spcPts val="160"/>
              </a:spcAft>
            </a:pPr>
            <a:r>
              <a:rPr sz="1300" b="1">
                <a:solidFill>
                  <a:srgbClr val="C0392B"/>
                </a:solidFill>
              </a:rPr>
              <a:t>▶  </a:t>
            </a:r>
            <a:r>
              <a:rPr sz="1300">
                <a:solidFill>
                  <a:srgbClr val="F5F5F5"/>
                </a:solidFill>
              </a:rPr>
              <a:t>Generic greeting ('Dear Customer')</a:t>
            </a:r>
          </a:p>
          <a:p>
            <a:pPr>
              <a:spcAft>
                <a:spcPts val="160"/>
              </a:spcAft>
            </a:pPr>
            <a:r>
              <a:rPr sz="1300" b="1">
                <a:solidFill>
                  <a:srgbClr val="C0392B"/>
                </a:solidFill>
              </a:rPr>
              <a:t>▶  </a:t>
            </a:r>
            <a:r>
              <a:rPr sz="1300">
                <a:solidFill>
                  <a:srgbClr val="F5F5F5"/>
                </a:solidFill>
              </a:rPr>
              <a:t>Requests for passwords or card details</a:t>
            </a:r>
          </a:p>
          <a:p>
            <a:pPr>
              <a:spcAft>
                <a:spcPts val="160"/>
              </a:spcAft>
            </a:pPr>
            <a:r>
              <a:rPr sz="1300" b="1">
                <a:solidFill>
                  <a:srgbClr val="C0392B"/>
                </a:solidFill>
              </a:rPr>
              <a:t>▶  </a:t>
            </a:r>
            <a:r>
              <a:rPr sz="1300">
                <a:solidFill>
                  <a:srgbClr val="F5F5F5"/>
                </a:solidFill>
              </a:rPr>
              <a:t>Unexpected attachments (.exe, .zip)</a:t>
            </a:r>
          </a:p>
          <a:p>
            <a:pPr>
              <a:spcAft>
                <a:spcPts val="160"/>
              </a:spcAft>
            </a:pPr>
            <a:r>
              <a:rPr sz="1300" b="1">
                <a:solidFill>
                  <a:srgbClr val="C0392B"/>
                </a:solidFill>
              </a:rPr>
              <a:t>▶  </a:t>
            </a:r>
            <a:r>
              <a:rPr sz="1300">
                <a:solidFill>
                  <a:srgbClr val="F5F5F5"/>
                </a:solidFill>
              </a:rPr>
              <a:t>Poor grammar or unusual formatting</a:t>
            </a:r>
          </a:p>
          <a:p>
            <a:pPr>
              <a:spcAft>
                <a:spcPts val="160"/>
              </a:spcAft>
            </a:pPr>
            <a:r>
              <a:rPr sz="1300" b="1">
                <a:solidFill>
                  <a:srgbClr val="C0392B"/>
                </a:solidFill>
              </a:rPr>
              <a:t>▶  </a:t>
            </a:r>
            <a:r>
              <a:rPr sz="1300">
                <a:solidFill>
                  <a:srgbClr val="F5F5F5"/>
                </a:solidFill>
              </a:rPr>
              <a:t>Mismatched branding or logos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SPOTTING FAKE WEBSITES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39C12"/>
                </a:solidFill>
              </a:rPr>
              <a:t>🔓  http://paypa1-secure.xyz/login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solidFill>
            <a:srgbClr val="1E2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AE60"/>
                </a:solidFill>
              </a:rPr>
              <a:t>🔒  https://www.paypal.com/signin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1704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⚠ FAKE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16733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✔ REAL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54864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6887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5F5F5"/>
                </a:solidFill>
              </a:rPr>
              <a:t>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79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B3A"/>
                </a:solidFill>
              </a:rPr>
              <a:t>Check HTTPS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Real sites use HTTPS. But beware — phishing sites can also have HTTPS. Always check the full domain.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331720"/>
            <a:ext cx="54864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7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5F5F5"/>
                </a:solidFill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468879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B3A"/>
                </a:solidFill>
              </a:rPr>
              <a:t>Inspect the 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718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Look for typos: paypa1, g00gle, amazon-secure. Attackers register near-identical domains.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34840"/>
            <a:ext cx="54864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5F5F5"/>
                </a:solidFill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720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B3A"/>
                </a:solidFill>
              </a:rPr>
              <a:t>Verify Before Typing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Never enter credentials on a page you reached via an email link. Navigate directly instead.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434840"/>
            <a:ext cx="54864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572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5F5F5"/>
                </a:solidFill>
              </a:rPr>
              <a:t>🛡️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5720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B3A"/>
                </a:solidFill>
              </a:rPr>
              <a:t>Use a Password 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0749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Password managers autofill only on the correct domain — they won't fill on fakes.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SOCIAL ENGINEERING TACTICS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AAAA"/>
                </a:solidFill>
              </a:rPr>
              <a:t>Attackers exploit human psychology — not just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73152" cy="1737360"/>
          </a:xfrm>
          <a:prstGeom prst="rect">
            <a:avLst/>
          </a:prstGeom>
          <a:solidFill>
            <a:srgbClr val="E9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508760"/>
            <a:ext cx="3584448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F5F5"/>
                </a:solidFill>
              </a:rP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4591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B3A"/>
                </a:solidFill>
              </a:rPr>
              <a:t>Urgency &amp; Fear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"Your account will be deleted in 24 hours!" — panic bypasses rational thinking.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08760"/>
            <a:ext cx="73152" cy="1737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3584448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F5F5"/>
                </a:solidFill>
              </a:rPr>
              <a:t>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64591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Authority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031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Impersonating CEO, IT, bank, or government to make requests seem legitimate.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1737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02752" y="1508760"/>
            <a:ext cx="3584448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F5F5"/>
                </a:solidFill>
              </a:rPr>
              <a:t>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64591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Reciprocity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"You've won a prize! Claim it now." — exploits our instinct to give back.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40479"/>
            <a:ext cx="73152" cy="1737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3840479"/>
            <a:ext cx="3584448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319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F5F5"/>
                </a:solidFill>
              </a:rP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776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Social 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348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"Your colleagues have already updated their credentials." — peer pressure works.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840479"/>
            <a:ext cx="73152" cy="1737360"/>
          </a:xfrm>
          <a:prstGeom prst="rect">
            <a:avLst/>
          </a:prstGeom>
          <a:solidFill>
            <a:srgbClr val="E9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0832" y="3840479"/>
            <a:ext cx="3584448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9319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F5F5"/>
                </a:solidFill>
              </a:rPr>
              <a:t>❤️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9776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B3A"/>
                </a:solidFill>
              </a:rPr>
              <a:t>Liking &amp; 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4348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Building a fake rapport before the attack. Warm, friendly tone disarms victims.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840479"/>
            <a:ext cx="73152" cy="1737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02752" y="3840479"/>
            <a:ext cx="3584448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9319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F5F5"/>
                </a:solidFill>
              </a:rPr>
              <a:t>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9776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Scarcity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4348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"Only 1 spot left — act now!" — manufactured scarcity triggers impulsive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REAL-WORLD PHISHING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097280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2016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097280"/>
            <a:ext cx="1014984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1704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Google &amp; Facebook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17043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</a:rPr>
              <a:t>$100M lost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45919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A Lithuanian hacker impersonated a hardware vendor via email, sending fake invoices that both companies paid over two years.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097280" cy="1554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4290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2020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926080"/>
            <a:ext cx="1014984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9992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Twitter VIP Hack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99923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39C12"/>
                </a:solidFill>
              </a:rPr>
              <a:t>Bitcoin scam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47472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Employees targeted via phone-based social engineering. Attackers gained admin access and hijacked accounts of Obama, Musk &amp; Biden.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54880"/>
            <a:ext cx="1097280" cy="1554480"/>
          </a:xfrm>
          <a:prstGeom prst="rect">
            <a:avLst/>
          </a:prstGeom>
          <a:solidFill>
            <a:srgbClr val="E9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2578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754880"/>
            <a:ext cx="1014984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48280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Uber Data Breach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82803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E94B3A"/>
                </a:solidFill>
              </a:rPr>
              <a:t>Full network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0352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</a:rPr>
              <a:t>Contractor repeatedly texted with MFA push notifications until they accepted. Attacker accessed Slack, AWS, and internal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BEST PRACTICES &amp; DEFENCE TIPS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45720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097280"/>
            <a:ext cx="521208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F5F5"/>
                </a:solidFill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1704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Enable MFA Everywhere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Multi-factor authentication blocks 99.9% of automated attacks even if your password is stolen.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45720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097280"/>
            <a:ext cx="521208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37160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F5F5"/>
                </a:solidFill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1704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Think Before You 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600200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Hover over links to preview the real URL. When in doubt, navigate directly to the site.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45720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514600"/>
            <a:ext cx="521208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78892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F5F5"/>
                </a:solidFill>
              </a:rPr>
              <a:t>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5877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Verify Unusual Requests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017520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If an email asks for money or sensitive data, verify by calling the person directly — not via reply.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514600"/>
            <a:ext cx="45720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2514600"/>
            <a:ext cx="521208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78892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F5F5"/>
                </a:solidFill>
              </a:rP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5877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Keep Software Updated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017520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Phishing often leads to malware. Patched systems block known exploits automatically.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31920"/>
            <a:ext cx="45720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3931920"/>
            <a:ext cx="521208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20624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F5F5"/>
                </a:solidFill>
              </a:rPr>
              <a:t>🗂️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Use a Password 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434840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Unique passwords per site mean one breach doesn't expose everything. Let the manager fill them.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31920"/>
            <a:ext cx="45720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75120" y="3931920"/>
            <a:ext cx="521208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20624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F5F5"/>
                </a:solidFill>
              </a:rPr>
              <a:t>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0050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Report Suspicious Emails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434840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Use your email client's 'Report Phishing' button. It protects your whole organisation.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349240"/>
            <a:ext cx="45720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5349240"/>
            <a:ext cx="521208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62356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F5F5"/>
                </a:solidFill>
              </a:rPr>
              <a:t>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42239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Security Awareness Training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852160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Regular simulations and training significantly reduce click rates on phishing emails.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5349240"/>
            <a:ext cx="45720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75120" y="5349240"/>
            <a:ext cx="521208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562356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F5F5"/>
                </a:solidFill>
              </a:rPr>
              <a:t>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542239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Back Up Your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5852160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Ransomware often follows phishing. Regular backups mean you can recover without paying.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QUICK KNOWLEDGE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AA"/>
                </a:solidFill>
              </a:rPr>
              <a:t>Can you spot the threat? (Answers on next slide)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48640" cy="1600200"/>
          </a:xfrm>
          <a:prstGeom prst="rect">
            <a:avLst/>
          </a:prstGeom>
          <a:solidFill>
            <a:srgbClr val="E9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1088136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361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You receive an email from 'IT Support' saying your password expires today and must be reset via a link. What do you 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A) Click the link and reset immediately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79" y="20574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B) Ignore it — IT never sends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963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C) Go directly to the IT portal and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24963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D) Forward it to a colleague to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548640" cy="1600200"/>
          </a:xfrm>
          <a:prstGeom prst="rect">
            <a:avLst/>
          </a:prstGeom>
          <a:solidFill>
            <a:srgbClr val="E9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749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246120"/>
            <a:ext cx="1088136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3192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 website has a padlock (🔒) and HTTPS. Is it safe to enter your bank credentials?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40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A) Yes — HTTPS means it's legitimate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79" y="3840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B) Not necessarily — check the full 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2793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C) Only if the page looks professional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42793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D) Yes, padlocks guarantee safety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200"/>
            <a:ext cx="548640" cy="1600200"/>
          </a:xfrm>
          <a:prstGeom prst="rect">
            <a:avLst/>
          </a:prstGeom>
          <a:solidFill>
            <a:srgbClr val="E9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532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029200"/>
            <a:ext cx="1088136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1023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Your 'CEO' emails asking you to urgently wire £5,000 for a surprise acquisition. They ask you to keep it confidential. What do you do?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6235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A) Wire the money — it's the CEO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56235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B) Reply asking for more 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0624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C) Call the CEO directly to 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60624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D) Keep it confidential and comply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QUIZ ANSWERS &amp; EXPLANATIONS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1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AAAA"/>
                </a:solidFill>
              </a:rPr>
              <a:t>Q1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097280"/>
            <a:ext cx="137160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097280"/>
            <a:ext cx="950976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5087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Always navigate directly to the IT portal — never click links in emails claiming your password needs resetting. Verify through official channels.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26080"/>
            <a:ext cx="54864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4747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AAAA"/>
                </a:solidFill>
              </a:rPr>
              <a:t>Q2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926080"/>
            <a:ext cx="137160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54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9476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926080"/>
            <a:ext cx="950976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33375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HTTPS only encrypts the connection — it doesn't verify the site is legitimate. Phishing sites use HTTPS too. Always check the full domain carefully.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54880"/>
            <a:ext cx="54864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3035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AAAA"/>
                </a:solidFill>
              </a:rPr>
              <a:t>Q3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754880"/>
            <a:ext cx="137160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83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62356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4754880"/>
            <a:ext cx="950976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51663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</a:rPr>
              <a:t>This is a classic 'CEO fraud' / whaling attack. Always verify financial requests by calling the CEO directly using a known number — never reply to the email.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IF YOU THINK YOU'VE BEEN PHISHED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AAAA"/>
                </a:solidFill>
              </a:rPr>
              <a:t>Act fast — every second 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45720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329184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Don't Panic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Stay calm. Panicking leads to mistakes. You can limit the damage with fast, clear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45720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01168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417320"/>
            <a:ext cx="329184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5270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Disconnect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011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Disconnect the device from the network immediately to prevent malware spreading further.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45720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417320"/>
            <a:ext cx="329184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5270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Change Passwords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011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Change passwords for affected accounts from a DIFFERENT, clean device immediately.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03320"/>
            <a:ext cx="45720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29768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703320"/>
            <a:ext cx="329184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8130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Enable / Check MFA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297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Enable multi-factor authentication on all accounts and review any active sessions.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703320"/>
            <a:ext cx="45720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429768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3703320"/>
            <a:ext cx="329184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38130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Report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4297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Tell your IT/Security team straight away. Early reporting limits damage for everyone.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703320"/>
            <a:ext cx="45720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29768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3703320"/>
            <a:ext cx="329184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38130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Monitor Accounts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297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Watch bank and email accounts for suspicious activity over the next 30–90 days.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F5F5F5"/>
                </a:solidFill>
              </a:rPr>
              <a:t>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256032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STAY
SAFE
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05840"/>
            <a:ext cx="7223760" cy="36576"/>
          </a:xfrm>
          <a:prstGeom prst="rect">
            <a:avLst/>
          </a:prstGeom>
          <a:solidFill>
            <a:srgbClr val="E9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143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"/>
              </a:spcAft>
            </a:pPr>
            <a:r>
              <a:rPr sz="1500" b="1">
                <a:solidFill>
                  <a:srgbClr val="E94B3A"/>
                </a:solidFill>
              </a:rPr>
              <a:t>▶  </a:t>
            </a:r>
            <a:r>
              <a:rPr sz="1500">
                <a:solidFill>
                  <a:srgbClr val="F5F5F5"/>
                </a:solidFill>
              </a:rPr>
              <a:t>Think before you click — hover links, verify senders</a:t>
            </a:r>
          </a:p>
          <a:p>
            <a:pPr>
              <a:spcAft>
                <a:spcPts val="160"/>
              </a:spcAft>
            </a:pPr>
            <a:r>
              <a:rPr sz="1500" b="1">
                <a:solidFill>
                  <a:srgbClr val="E94B3A"/>
                </a:solidFill>
              </a:rPr>
              <a:t>▶  </a:t>
            </a:r>
            <a:r>
              <a:rPr sz="1500">
                <a:solidFill>
                  <a:srgbClr val="F5F5F5"/>
                </a:solidFill>
              </a:rPr>
              <a:t>Enable MFA on every account you own</a:t>
            </a:r>
          </a:p>
          <a:p>
            <a:pPr>
              <a:spcAft>
                <a:spcPts val="160"/>
              </a:spcAft>
            </a:pPr>
            <a:r>
              <a:rPr sz="1500" b="1">
                <a:solidFill>
                  <a:srgbClr val="E94B3A"/>
                </a:solidFill>
              </a:rPr>
              <a:t>▶  </a:t>
            </a:r>
            <a:r>
              <a:rPr sz="1500">
                <a:solidFill>
                  <a:srgbClr val="F5F5F5"/>
                </a:solidFill>
              </a:rPr>
              <a:t>Urgent / threatening emails are almost always phishing</a:t>
            </a:r>
          </a:p>
          <a:p>
            <a:pPr>
              <a:spcAft>
                <a:spcPts val="160"/>
              </a:spcAft>
            </a:pPr>
            <a:r>
              <a:rPr sz="1500" b="1">
                <a:solidFill>
                  <a:srgbClr val="E94B3A"/>
                </a:solidFill>
              </a:rPr>
              <a:t>▶  </a:t>
            </a:r>
            <a:r>
              <a:rPr sz="1500">
                <a:solidFill>
                  <a:srgbClr val="F5F5F5"/>
                </a:solidFill>
              </a:rPr>
              <a:t>When in doubt, verify via a known phone number</a:t>
            </a:r>
          </a:p>
          <a:p>
            <a:pPr>
              <a:spcAft>
                <a:spcPts val="160"/>
              </a:spcAft>
            </a:pPr>
            <a:r>
              <a:rPr sz="1500" b="1">
                <a:solidFill>
                  <a:srgbClr val="E94B3A"/>
                </a:solidFill>
              </a:rPr>
              <a:t>▶  </a:t>
            </a:r>
            <a:r>
              <a:rPr sz="1500">
                <a:solidFill>
                  <a:srgbClr val="F5F5F5"/>
                </a:solidFill>
              </a:rPr>
              <a:t>Report suspicious emails immediately — protect your team</a:t>
            </a:r>
          </a:p>
          <a:p>
            <a:pPr>
              <a:spcAft>
                <a:spcPts val="160"/>
              </a:spcAft>
            </a:pPr>
            <a:r>
              <a:rPr sz="1500" b="1">
                <a:solidFill>
                  <a:srgbClr val="E94B3A"/>
                </a:solidFill>
              </a:rPr>
              <a:t>▶  </a:t>
            </a:r>
            <a:r>
              <a:rPr sz="1500">
                <a:solidFill>
                  <a:srgbClr val="F5F5F5"/>
                </a:solidFill>
              </a:rPr>
              <a:t>No legitimate organisation asks for your password by email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5029200"/>
            <a:ext cx="7223760" cy="3657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516636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AAAA"/>
                </a:solidFill>
              </a:rPr>
              <a:t>Questions? Contact your IT Security team.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5778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Cybersecurity is everyone's responsibility.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